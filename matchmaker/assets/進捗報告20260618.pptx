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73" r:id="rId5"/>
    <p:sldId id="272" r:id="rId6"/>
    <p:sldId id="274" r:id="rId7"/>
    <p:sldId id="275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/標準">
          <cx:pt idx="0">1</cx:pt>
          <cx:pt idx="1">3</cx:pt>
          <cx:pt idx="2">3</cx:pt>
          <cx:pt idx="3">3</cx:pt>
          <cx:pt idx="4">5</cx:pt>
          <cx:pt idx="5">6</cx:pt>
          <cx:pt idx="6">6</cx:pt>
          <cx:pt idx="7">6</cx:pt>
          <cx:pt idx="8">7</cx:pt>
          <cx:pt idx="9">8</cx:pt>
          <cx:pt idx="10">8</cx:pt>
          <cx:pt idx="11">9</cx:pt>
          <cx:pt idx="12">9</cx:pt>
          <cx:pt idx="13">9</cx:pt>
          <cx:pt idx="14">9</cx:pt>
          <cx:pt idx="15">9</cx:pt>
          <cx:pt idx="16">10</cx:pt>
          <cx:pt idx="17">10</cx:pt>
          <cx:pt idx="18">10</cx:pt>
          <cx:pt idx="19">10</cx:pt>
          <cx:pt idx="20">10</cx:pt>
          <cx:pt idx="21">10</cx:pt>
          <cx:pt idx="22">11</cx:pt>
          <cx:pt idx="23">11</cx:pt>
          <cx:pt idx="24">11</cx:pt>
          <cx:pt idx="25">11</cx:pt>
          <cx:pt idx="26">11</cx:pt>
          <cx:pt idx="27">11</cx:pt>
          <cx:pt idx="28">12</cx:pt>
          <cx:pt idx="29">12</cx:pt>
          <cx:pt idx="30">12</cx:pt>
          <cx:pt idx="31">12</cx:pt>
          <cx:pt idx="32">12</cx:pt>
          <cx:pt idx="33">12</cx:pt>
          <cx:pt idx="34">13</cx:pt>
          <cx:pt idx="35">13</cx:pt>
          <cx:pt idx="36">13</cx:pt>
          <cx:pt idx="37">13</cx:pt>
          <cx:pt idx="38">13</cx:pt>
          <cx:pt idx="39">14</cx:pt>
          <cx:pt idx="40">14</cx:pt>
          <cx:pt idx="41">14</cx:pt>
          <cx:pt idx="42">14</cx:pt>
          <cx:pt idx="43">14</cx:pt>
          <cx:pt idx="44">14</cx:pt>
          <cx:pt idx="45">15</cx:pt>
          <cx:pt idx="46">15</cx:pt>
          <cx:pt idx="47">15</cx:pt>
          <cx:pt idx="48">15</cx:pt>
          <cx:pt idx="49">15</cx:pt>
          <cx:pt idx="50">15</cx:pt>
          <cx:pt idx="51">15</cx:pt>
          <cx:pt idx="52">15</cx:pt>
          <cx:pt idx="53">16</cx:pt>
          <cx:pt idx="54">16</cx:pt>
          <cx:pt idx="55">16</cx:pt>
          <cx:pt idx="56">16</cx:pt>
          <cx:pt idx="57">17</cx:pt>
          <cx:pt idx="58">17</cx:pt>
          <cx:pt idx="59">17</cx:pt>
          <cx:pt idx="60">17</cx:pt>
          <cx:pt idx="61">17</cx:pt>
          <cx:pt idx="62">17</cx:pt>
          <cx:pt idx="63">18</cx:pt>
          <cx:pt idx="64">18</cx:pt>
          <cx:pt idx="65">18</cx:pt>
          <cx:pt idx="66">18</cx:pt>
          <cx:pt idx="67">19</cx:pt>
          <cx:pt idx="68">19</cx:pt>
          <cx:pt idx="69">19</cx:pt>
          <cx:pt idx="70">20</cx:pt>
          <cx:pt idx="71">21</cx:pt>
          <cx:pt idx="72">22</cx:pt>
          <cx:pt idx="73">22</cx:pt>
          <cx:pt idx="74">24</cx:pt>
          <cx:pt idx="75">24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ja-JP" altLang="en-US" sz="1862" b="0" i="0" u="none" strike="noStrike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游ゴシック" panose="02110004020202020204"/>
                <a:ea typeface="游ゴシック" panose="020B0400000000000000" pitchFamily="50" charset="-128"/>
              </a:rPr>
              <a:t>成功数</a:t>
            </a:r>
          </a:p>
        </cx:rich>
      </cx:tx>
    </cx:title>
    <cx:plotArea>
      <cx:plotAreaRegion>
        <cx:series layoutId="clusteredColumn" uniqueId="{0B9F521B-5D00-46FC-B3EF-4BD8E6FDC769}">
          <cx:tx>
            <cx:txData>
              <cx:f>Sheet1!$A$1</cx:f>
              <cx:v>系列1</cx:v>
            </cx:txData>
          </cx:tx>
          <cx:spPr>
            <a:solidFill>
              <a:srgbClr val="FF0000"/>
            </a:solidFill>
          </cx:spPr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/標準">
          <cx:pt idx="0">1</cx:pt>
          <cx:pt idx="1">3</cx:pt>
          <cx:pt idx="2">3</cx:pt>
          <cx:pt idx="3">3</cx:pt>
          <cx:pt idx="4">5</cx:pt>
          <cx:pt idx="5">6</cx:pt>
          <cx:pt idx="6">6</cx:pt>
          <cx:pt idx="7">6</cx:pt>
          <cx:pt idx="8">7</cx:pt>
          <cx:pt idx="9">8</cx:pt>
          <cx:pt idx="10">8</cx:pt>
          <cx:pt idx="11">9</cx:pt>
          <cx:pt idx="12">9</cx:pt>
          <cx:pt idx="13">9</cx:pt>
          <cx:pt idx="14">9</cx:pt>
          <cx:pt idx="15">9</cx:pt>
          <cx:pt idx="16">10</cx:pt>
          <cx:pt idx="17">10</cx:pt>
          <cx:pt idx="18">10</cx:pt>
          <cx:pt idx="19">10</cx:pt>
          <cx:pt idx="20">10</cx:pt>
          <cx:pt idx="21">10</cx:pt>
          <cx:pt idx="22">11</cx:pt>
          <cx:pt idx="23">11</cx:pt>
          <cx:pt idx="24">11</cx:pt>
          <cx:pt idx="25">11</cx:pt>
          <cx:pt idx="26">11</cx:pt>
          <cx:pt idx="27">11</cx:pt>
          <cx:pt idx="28">12</cx:pt>
          <cx:pt idx="29">12</cx:pt>
          <cx:pt idx="30">12</cx:pt>
          <cx:pt idx="31">12</cx:pt>
          <cx:pt idx="32">12</cx:pt>
          <cx:pt idx="33">12</cx:pt>
          <cx:pt idx="34">13</cx:pt>
          <cx:pt idx="35">13</cx:pt>
          <cx:pt idx="36">13</cx:pt>
          <cx:pt idx="37">13</cx:pt>
          <cx:pt idx="38">13</cx:pt>
          <cx:pt idx="39">14</cx:pt>
          <cx:pt idx="40">14</cx:pt>
          <cx:pt idx="41">14</cx:pt>
          <cx:pt idx="42">14</cx:pt>
          <cx:pt idx="43">14</cx:pt>
          <cx:pt idx="44">14</cx:pt>
          <cx:pt idx="45">15</cx:pt>
          <cx:pt idx="46">15</cx:pt>
          <cx:pt idx="47">15</cx:pt>
          <cx:pt idx="48">15</cx:pt>
          <cx:pt idx="49">15</cx:pt>
          <cx:pt idx="50">15</cx:pt>
          <cx:pt idx="51">15</cx:pt>
          <cx:pt idx="52">15</cx:pt>
          <cx:pt idx="53">16</cx:pt>
          <cx:pt idx="54">16</cx:pt>
          <cx:pt idx="55">16</cx:pt>
          <cx:pt idx="56">16</cx:pt>
          <cx:pt idx="57">17</cx:pt>
          <cx:pt idx="58">17</cx:pt>
          <cx:pt idx="59">17</cx:pt>
          <cx:pt idx="60">17</cx:pt>
          <cx:pt idx="61">17</cx:pt>
          <cx:pt idx="62">17</cx:pt>
          <cx:pt idx="63">18</cx:pt>
          <cx:pt idx="64">18</cx:pt>
          <cx:pt idx="65">18</cx:pt>
          <cx:pt idx="66">18</cx:pt>
          <cx:pt idx="67">19</cx:pt>
          <cx:pt idx="68">19</cx:pt>
          <cx:pt idx="69">19</cx:pt>
          <cx:pt idx="70">20</cx:pt>
          <cx:pt idx="71">21</cx:pt>
          <cx:pt idx="72">22</cx:pt>
          <cx:pt idx="73">22</cx:pt>
          <cx:pt idx="74">24</cx:pt>
          <cx:pt idx="75">24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ja-JP" altLang="en-US" sz="1862" b="0" i="0" u="none" strike="noStrike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游ゴシック" panose="02110004020202020204"/>
                <a:ea typeface="游ゴシック" panose="020B0400000000000000" pitchFamily="50" charset="-128"/>
              </a:rPr>
              <a:t>失敗数</a:t>
            </a:r>
          </a:p>
        </cx:rich>
      </cx:tx>
    </cx:title>
    <cx:plotArea>
      <cx:plotAreaRegion>
        <cx:series layoutId="clusteredColumn" uniqueId="{0B9F521B-5D00-46FC-B3EF-4BD8E6FDC769}">
          <cx:tx>
            <cx:txData>
              <cx:f>Sheet1!$A$1</cx:f>
              <cx:v>系列1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5EB4F3-3EEA-367B-DC2F-DD1A14677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11428B7-3E30-E722-B416-D2A07E673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343C97-5E3F-F4C7-4357-D2696DD0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6858F7-D75C-551B-7A35-EF42995CD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AF880B-8CDB-ABB0-C22D-65AA0537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518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0FB490-D338-43AB-E9AB-00B7CA42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66C05A-E4BE-866F-ED0A-81D7C7BCF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C529BB-C899-ED08-FF55-73B464A7F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A7B07E-F028-D532-A293-347440F6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3E9DE5-225E-D5B6-541B-F547EA4B4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119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F3704E-7373-E6A7-9E9C-725FFAA7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85665C-1B6F-A070-DC58-A1A874A68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9AA397-7A2B-B7F6-F5D1-A04C1D850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9A428E-6183-259F-249C-0EDABD29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EFA27A-CB50-E703-4214-8D3BA2B93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54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DC0764-22F2-0621-7025-9E5580B32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B46317-51B7-8153-C259-BE213F9FE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429006-787B-53E6-7CD9-FFFC504C5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56AC98-F331-BC09-5216-9339F8E86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EFE950-5D9E-C551-A0D3-189885B8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95C420-D3AA-D312-B290-181D30DB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497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983D5A-FE79-8C61-80D7-18E684E59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33F976-3FB9-DB57-9CED-510ADA925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4E70C8-6A99-98B4-0C32-262916C8F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A97AD80-C215-B17C-2ACD-AADA61289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0232AAF-7566-5E80-FF1F-44D95EF2F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E0ABCF-2B33-4314-E22D-92C34640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5E7AB49-01CA-09B5-955E-767F43D0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FAA727C-E338-3BC9-8AAE-7A6D9B69B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123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F86179-ACF1-ACBF-A2AC-C497E98E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87AE96-4B0A-4231-714D-4B4176A1E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E3CDE24-5C87-8AB7-9B9D-3E39445CE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456818-D7F4-25B6-2EDF-EA2C0F7F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006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97F262E-80A8-5B0F-6DFB-9459560E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E0F2707-937D-06CE-3B64-6529D2FC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5C1947-D32E-C351-FB28-F42C5F7BA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30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DBF529-112F-80C6-15BA-F8FDF674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343128-1DFD-2A7B-C208-277652AC6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AFF52AF-FEB4-B9DE-110C-A38838D79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F32A72-EE8E-9BAE-FDD4-D2142865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C1DE9A-52A3-2C79-0E2F-B46CEE6D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00DA8D-ABA0-B2F8-EB68-63F8C485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259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8951B4-F133-7796-B795-00E2EE69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519D768-6BBA-4EC2-F112-66E70BD67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2D040F5-38FA-FBA0-B859-70F557A23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824FD4-4E6C-9426-1389-98E6C74F1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1F0452-9AA4-43A3-61D1-FE456B397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06B2D1-EF2D-D3C8-0DD3-DDF93905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410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CA3413-AD81-3EDD-25E2-1A8E372BC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3350FF-4BFC-5702-DC0B-6BB9F62E0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8A6DEF-7B2E-9407-30CD-4FF20156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C5D4EA-BCD5-CDF7-8FA8-E66C1739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2D338B-845B-EB33-17E7-4C93634F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934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B11AA09-C1F4-F918-0A5D-C945B47A6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645F2F-8481-6AAC-B19F-D26CB9663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3D9FEA-E4EA-FA59-1594-371E9EE96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120728-1738-58CF-3451-F9662CF9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6A1549-9EAA-20F0-73F4-34BF567C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322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5AAAB68-C185-D235-A146-BAF7471DF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43C082-2E3C-D96D-AE2C-817AF2BC3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AD8DE-CC26-83F5-7D4A-8C3B91F8CF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10A62-BB7C-4ECA-B788-BE0BB2DD8AFF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5C78ED-2C2E-5ACD-2B03-471D704D7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DBC7E0-6109-6EDC-3368-E3186C000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A57B4-6D3A-4650-9037-6239F030D1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24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14/relationships/chartEx" Target="../charts/chartEx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65DA53-41C4-EC71-48C7-6FB43034F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22363"/>
            <a:ext cx="10668000" cy="2306637"/>
          </a:xfrm>
        </p:spPr>
        <p:txBody>
          <a:bodyPr>
            <a:normAutofit/>
          </a:bodyPr>
          <a:lstStyle/>
          <a:p>
            <a:r>
              <a:rPr lang="ja-JP" altLang="en-US" sz="4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進捗報告</a:t>
            </a:r>
            <a:r>
              <a:rPr lang="en-US" altLang="ja-JP" sz="4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ja-JP" altLang="en-US" sz="4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5C19E77-3ABF-11D9-425F-C155905695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6/18(</a:t>
            </a:r>
            <a:r>
              <a:rPr lang="ja-JP" altLang="en-US" dirty="0"/>
              <a:t>木</a:t>
            </a:r>
            <a:r>
              <a:rPr kumimoji="1" lang="en-US" altLang="ja-JP" dirty="0"/>
              <a:t>)</a:t>
            </a:r>
            <a:br>
              <a:rPr kumimoji="1" lang="en-US" altLang="ja-JP" dirty="0"/>
            </a:br>
            <a:r>
              <a:rPr kumimoji="1" lang="en-US" altLang="ja-JP" dirty="0"/>
              <a:t>6325525</a:t>
            </a:r>
            <a:br>
              <a:rPr kumimoji="1" lang="en-US" altLang="ja-JP" dirty="0"/>
            </a:br>
            <a:r>
              <a:rPr kumimoji="1" lang="ja-JP" altLang="en-US" dirty="0"/>
              <a:t>桂田研</a:t>
            </a:r>
            <a:r>
              <a:rPr kumimoji="1" lang="en-US" altLang="ja-JP" dirty="0"/>
              <a:t>M2 </a:t>
            </a:r>
            <a:r>
              <a:rPr kumimoji="1" lang="ja-JP" altLang="en-US" dirty="0"/>
              <a:t>高橋亨輔</a:t>
            </a:r>
          </a:p>
        </p:txBody>
      </p:sp>
    </p:spTree>
    <p:extLst>
      <p:ext uri="{BB962C8B-B14F-4D97-AF65-F5344CB8AC3E}">
        <p14:creationId xmlns:p14="http://schemas.microsoft.com/office/powerpoint/2010/main" val="4077848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48DE36-A346-01B7-CC08-9B39F53C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研究内容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DFF2F1-5489-5C07-5DC8-0BFF3B2D2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深層強化学習を使った</a:t>
            </a:r>
            <a:r>
              <a:rPr kumimoji="1" lang="ja-JP" altLang="en-US" b="1" u="sng" dirty="0"/>
              <a:t>ゲームマップ</a:t>
            </a:r>
            <a:r>
              <a:rPr kumimoji="1" lang="ja-JP" altLang="en-US" u="sng" dirty="0"/>
              <a:t>の生成</a:t>
            </a:r>
            <a:r>
              <a:rPr kumimoji="1" lang="ja-JP" altLang="en-US" dirty="0"/>
              <a:t>・評価</a:t>
            </a: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r>
              <a:rPr lang="ja-JP" altLang="en-US" dirty="0"/>
              <a:t>先行研究の論文：</a:t>
            </a:r>
            <a:br>
              <a:rPr lang="en-US" altLang="ja-JP" dirty="0"/>
            </a:br>
            <a:r>
              <a:rPr lang="en-US" altLang="ja-JP" dirty="0" err="1"/>
              <a:t>PCGRL:Procedural</a:t>
            </a:r>
            <a:r>
              <a:rPr lang="en-US" altLang="ja-JP" dirty="0"/>
              <a:t> Content Generation via Reinforcement Learning (2020)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D98723-5BDB-EF51-EC0F-35FBA617E6B7}"/>
              </a:ext>
            </a:extLst>
          </p:cNvPr>
          <p:cNvSpPr txBox="1"/>
          <p:nvPr/>
        </p:nvSpPr>
        <p:spPr>
          <a:xfrm>
            <a:off x="4926449" y="227109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レベルデザイン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E5E6833-E859-7D18-0CDA-E63576E37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649" y="4377644"/>
            <a:ext cx="2228879" cy="193425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06C77B76-18CE-C3E5-629D-9C2800C2C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005" y="4456312"/>
            <a:ext cx="2467608" cy="170724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95FDF02-6F90-6B2F-8E0E-2C47208DE9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567" y="4377644"/>
            <a:ext cx="2017544" cy="190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14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8C722-EFD5-6069-2AF0-A5F2A8B7C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F07F40-7BE7-FDC4-B5AD-6466E011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新しい報酬設計案（前回までの内容）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0EE9B8-D736-6993-1417-1B9A0CF10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61743"/>
          </a:xfrm>
        </p:spPr>
        <p:txBody>
          <a:bodyPr>
            <a:normAutofit/>
          </a:bodyPr>
          <a:lstStyle/>
          <a:p>
            <a:r>
              <a:rPr lang="ja-JP" altLang="en-US" dirty="0"/>
              <a:t>探索アルゴリズム</a:t>
            </a:r>
            <a:r>
              <a:rPr lang="en-US" altLang="ja-JP" dirty="0"/>
              <a:t>(</a:t>
            </a:r>
            <a:r>
              <a:rPr lang="ja-JP" altLang="en-US" u="sng" dirty="0"/>
              <a:t>幅優先探索</a:t>
            </a:r>
            <a:r>
              <a:rPr lang="ja-JP" altLang="en-US" dirty="0"/>
              <a:t>など</a:t>
            </a:r>
            <a:r>
              <a:rPr lang="en-US" altLang="ja-JP" dirty="0"/>
              <a:t>)</a:t>
            </a:r>
            <a:r>
              <a:rPr lang="ja-JP" altLang="en-US" dirty="0"/>
              <a:t>を使ってプレイヤーキャラの移動経路を列挙。</a:t>
            </a:r>
            <a:endParaRPr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E390BF1-FBBB-E77F-15FF-9AD1BAC87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37" y="2845181"/>
            <a:ext cx="3440893" cy="3429000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DD0D1F6-E4C4-B2FF-BCD6-3B9F9FCF994D}"/>
              </a:ext>
            </a:extLst>
          </p:cNvPr>
          <p:cNvCxnSpPr>
            <a:cxnSpLocks/>
          </p:cNvCxnSpPr>
          <p:nvPr/>
        </p:nvCxnSpPr>
        <p:spPr>
          <a:xfrm flipV="1">
            <a:off x="1929384" y="4087368"/>
            <a:ext cx="0" cy="85953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A9D18502-8644-7944-188D-2324716590C1}"/>
              </a:ext>
            </a:extLst>
          </p:cNvPr>
          <p:cNvCxnSpPr>
            <a:cxnSpLocks/>
          </p:cNvCxnSpPr>
          <p:nvPr/>
        </p:nvCxnSpPr>
        <p:spPr>
          <a:xfrm>
            <a:off x="1935480" y="4087368"/>
            <a:ext cx="43281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24916CD9-371D-93F1-C8ED-7CA46683A2DF}"/>
              </a:ext>
            </a:extLst>
          </p:cNvPr>
          <p:cNvCxnSpPr>
            <a:cxnSpLocks/>
          </p:cNvCxnSpPr>
          <p:nvPr/>
        </p:nvCxnSpPr>
        <p:spPr>
          <a:xfrm flipV="1">
            <a:off x="2368296" y="3758184"/>
            <a:ext cx="0" cy="32918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680C934-F657-B5D8-6561-C48E7404D1FF}"/>
              </a:ext>
            </a:extLst>
          </p:cNvPr>
          <p:cNvCxnSpPr>
            <a:cxnSpLocks/>
          </p:cNvCxnSpPr>
          <p:nvPr/>
        </p:nvCxnSpPr>
        <p:spPr>
          <a:xfrm>
            <a:off x="2368296" y="3758184"/>
            <a:ext cx="31648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DDE0054C-4C96-0905-1F97-50E3CC84066D}"/>
              </a:ext>
            </a:extLst>
          </p:cNvPr>
          <p:cNvCxnSpPr>
            <a:cxnSpLocks/>
          </p:cNvCxnSpPr>
          <p:nvPr/>
        </p:nvCxnSpPr>
        <p:spPr>
          <a:xfrm>
            <a:off x="2684783" y="3922776"/>
            <a:ext cx="0" cy="32308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F1E0394-3D83-B6B6-7CCE-3092B7F46087}"/>
              </a:ext>
            </a:extLst>
          </p:cNvPr>
          <p:cNvCxnSpPr>
            <a:cxnSpLocks/>
          </p:cNvCxnSpPr>
          <p:nvPr/>
        </p:nvCxnSpPr>
        <p:spPr>
          <a:xfrm>
            <a:off x="2684783" y="4197096"/>
            <a:ext cx="43281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407B142-D869-ED35-7F72-590947245E04}"/>
              </a:ext>
            </a:extLst>
          </p:cNvPr>
          <p:cNvCxnSpPr>
            <a:cxnSpLocks/>
          </p:cNvCxnSpPr>
          <p:nvPr/>
        </p:nvCxnSpPr>
        <p:spPr>
          <a:xfrm>
            <a:off x="3117599" y="4187952"/>
            <a:ext cx="0" cy="8229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2189CBF-5367-494D-E153-00E0F9A1E0F2}"/>
              </a:ext>
            </a:extLst>
          </p:cNvPr>
          <p:cNvCxnSpPr>
            <a:cxnSpLocks/>
          </p:cNvCxnSpPr>
          <p:nvPr/>
        </p:nvCxnSpPr>
        <p:spPr>
          <a:xfrm>
            <a:off x="3117599" y="4946904"/>
            <a:ext cx="72288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EAF3A88-4345-69D1-9167-2BDBF4814426}"/>
              </a:ext>
            </a:extLst>
          </p:cNvPr>
          <p:cNvCxnSpPr>
            <a:cxnSpLocks/>
          </p:cNvCxnSpPr>
          <p:nvPr/>
        </p:nvCxnSpPr>
        <p:spPr>
          <a:xfrm>
            <a:off x="3840480" y="4946904"/>
            <a:ext cx="0" cy="6126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66745A45-B946-BE12-9906-3E1E23518676}"/>
              </a:ext>
            </a:extLst>
          </p:cNvPr>
          <p:cNvCxnSpPr>
            <a:cxnSpLocks/>
          </p:cNvCxnSpPr>
          <p:nvPr/>
        </p:nvCxnSpPr>
        <p:spPr>
          <a:xfrm>
            <a:off x="1953768" y="5010912"/>
            <a:ext cx="432816" cy="0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81167DB0-943D-0DA9-76BC-229CDAFF509A}"/>
              </a:ext>
            </a:extLst>
          </p:cNvPr>
          <p:cNvCxnSpPr>
            <a:cxnSpLocks/>
          </p:cNvCxnSpPr>
          <p:nvPr/>
        </p:nvCxnSpPr>
        <p:spPr>
          <a:xfrm>
            <a:off x="2300735" y="5010912"/>
            <a:ext cx="0" cy="43891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A4BD18BA-A697-EF89-5AD4-F9B8A56A923D}"/>
              </a:ext>
            </a:extLst>
          </p:cNvPr>
          <p:cNvCxnSpPr>
            <a:cxnSpLocks/>
          </p:cNvCxnSpPr>
          <p:nvPr/>
        </p:nvCxnSpPr>
        <p:spPr>
          <a:xfrm>
            <a:off x="2252472" y="5437632"/>
            <a:ext cx="432816" cy="0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47D7D7E6-651A-2A59-4255-139DA4CB4069}"/>
              </a:ext>
            </a:extLst>
          </p:cNvPr>
          <p:cNvCxnSpPr>
            <a:cxnSpLocks/>
          </p:cNvCxnSpPr>
          <p:nvPr/>
        </p:nvCxnSpPr>
        <p:spPr>
          <a:xfrm>
            <a:off x="4718304" y="5910072"/>
            <a:ext cx="1377696" cy="0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BD3AA928-D3B1-2D20-75AD-12B136BA2215}"/>
              </a:ext>
            </a:extLst>
          </p:cNvPr>
          <p:cNvCxnSpPr>
            <a:cxnSpLocks/>
          </p:cNvCxnSpPr>
          <p:nvPr/>
        </p:nvCxnSpPr>
        <p:spPr>
          <a:xfrm>
            <a:off x="4718304" y="5455920"/>
            <a:ext cx="137769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EC95367-3BEE-79FE-DB8D-28EA82018321}"/>
              </a:ext>
            </a:extLst>
          </p:cNvPr>
          <p:cNvSpPr txBox="1"/>
          <p:nvPr/>
        </p:nvSpPr>
        <p:spPr>
          <a:xfrm>
            <a:off x="6190488" y="527761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成功ルート</a:t>
            </a:r>
            <a:endParaRPr kumimoji="1" lang="ja-JP" altLang="en-US" sz="20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751537D-4286-0B81-62C1-EDABA3BBBFBA}"/>
              </a:ext>
            </a:extLst>
          </p:cNvPr>
          <p:cNvSpPr txBox="1"/>
          <p:nvPr/>
        </p:nvSpPr>
        <p:spPr>
          <a:xfrm>
            <a:off x="6190488" y="5710017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失敗ルート</a:t>
            </a:r>
            <a:endParaRPr kumimoji="1" lang="ja-JP" altLang="en-US" sz="20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9DD9E69-9F21-2B65-A50C-4E1F2814F4D4}"/>
              </a:ext>
            </a:extLst>
          </p:cNvPr>
          <p:cNvSpPr txBox="1"/>
          <p:nvPr/>
        </p:nvSpPr>
        <p:spPr>
          <a:xfrm>
            <a:off x="5276088" y="2956496"/>
            <a:ext cx="62889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u="sng" dirty="0"/>
              <a:t>成功</a:t>
            </a:r>
            <a:r>
              <a:rPr kumimoji="1" lang="ja-JP" altLang="en-US" sz="2800" u="sng" dirty="0"/>
              <a:t>ルートや</a:t>
            </a:r>
            <a:r>
              <a:rPr kumimoji="1" lang="ja-JP" altLang="en-US" sz="2800" b="1" u="sng" dirty="0"/>
              <a:t>失敗</a:t>
            </a:r>
            <a:r>
              <a:rPr kumimoji="1" lang="ja-JP" altLang="en-US" sz="2800" u="sng" dirty="0"/>
              <a:t>ルートの数</a:t>
            </a:r>
            <a:r>
              <a:rPr kumimoji="1" lang="ja-JP" altLang="en-US" sz="2800" dirty="0"/>
              <a:t>を使って</a:t>
            </a:r>
            <a:br>
              <a:rPr kumimoji="1" lang="en-US" altLang="ja-JP" sz="2800" dirty="0"/>
            </a:br>
            <a:r>
              <a:rPr kumimoji="1" lang="ja-JP" altLang="en-US" sz="2800" dirty="0"/>
              <a:t>ヒストグラムを構築し、報酬設計する</a:t>
            </a:r>
          </a:p>
        </p:txBody>
      </p:sp>
    </p:spTree>
    <p:extLst>
      <p:ext uri="{BB962C8B-B14F-4D97-AF65-F5344CB8AC3E}">
        <p14:creationId xmlns:p14="http://schemas.microsoft.com/office/powerpoint/2010/main" val="3166852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2F9B-B05A-D0A8-9525-22120CB5F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0FEBDA-D863-2F4C-1341-324AC57E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新しい報酬設計案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（前回までの内容）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5E3E02-7281-C6C9-7D9A-799A84544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61743"/>
          </a:xfrm>
        </p:spPr>
        <p:txBody>
          <a:bodyPr>
            <a:normAutofit/>
          </a:bodyPr>
          <a:lstStyle/>
          <a:p>
            <a:r>
              <a:rPr lang="ja-JP" altLang="en-US" dirty="0"/>
              <a:t>探索アルゴリズム</a:t>
            </a:r>
            <a:r>
              <a:rPr lang="en-US" altLang="ja-JP" dirty="0"/>
              <a:t>(</a:t>
            </a:r>
            <a:r>
              <a:rPr lang="ja-JP" altLang="en-US" u="sng" dirty="0"/>
              <a:t>幅優先探索</a:t>
            </a:r>
            <a:r>
              <a:rPr lang="ja-JP" altLang="en-US" dirty="0"/>
              <a:t>など</a:t>
            </a:r>
            <a:r>
              <a:rPr lang="en-US" altLang="ja-JP" dirty="0"/>
              <a:t>)</a:t>
            </a:r>
            <a:r>
              <a:rPr lang="ja-JP" altLang="en-US" dirty="0"/>
              <a:t>を使ってプレイヤーキャラの移動経路を列挙。</a:t>
            </a:r>
            <a:endParaRPr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1824A99-42B9-EB58-9F75-1B85B7F9C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37" y="2845181"/>
            <a:ext cx="3440893" cy="3429000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017EE322-CB43-0EC3-07C2-E791F3136E42}"/>
              </a:ext>
            </a:extLst>
          </p:cNvPr>
          <p:cNvCxnSpPr>
            <a:cxnSpLocks/>
          </p:cNvCxnSpPr>
          <p:nvPr/>
        </p:nvCxnSpPr>
        <p:spPr>
          <a:xfrm flipV="1">
            <a:off x="1929384" y="4087368"/>
            <a:ext cx="0" cy="85953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4D96568-842A-8DF8-E179-DB6EB560027C}"/>
              </a:ext>
            </a:extLst>
          </p:cNvPr>
          <p:cNvCxnSpPr>
            <a:cxnSpLocks/>
          </p:cNvCxnSpPr>
          <p:nvPr/>
        </p:nvCxnSpPr>
        <p:spPr>
          <a:xfrm>
            <a:off x="1935480" y="4087368"/>
            <a:ext cx="43281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DB6D945-5150-3136-9112-C36969E5F9D0}"/>
              </a:ext>
            </a:extLst>
          </p:cNvPr>
          <p:cNvCxnSpPr>
            <a:cxnSpLocks/>
          </p:cNvCxnSpPr>
          <p:nvPr/>
        </p:nvCxnSpPr>
        <p:spPr>
          <a:xfrm flipV="1">
            <a:off x="2368296" y="3758184"/>
            <a:ext cx="0" cy="32918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3723BDC-98EC-DF50-3525-42C79492AFCD}"/>
              </a:ext>
            </a:extLst>
          </p:cNvPr>
          <p:cNvCxnSpPr>
            <a:cxnSpLocks/>
          </p:cNvCxnSpPr>
          <p:nvPr/>
        </p:nvCxnSpPr>
        <p:spPr>
          <a:xfrm>
            <a:off x="2368296" y="3758184"/>
            <a:ext cx="31648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ED3E5C5-A5C2-B021-D5C1-0DD0B6F6C400}"/>
              </a:ext>
            </a:extLst>
          </p:cNvPr>
          <p:cNvCxnSpPr>
            <a:cxnSpLocks/>
          </p:cNvCxnSpPr>
          <p:nvPr/>
        </p:nvCxnSpPr>
        <p:spPr>
          <a:xfrm>
            <a:off x="2684783" y="3922776"/>
            <a:ext cx="0" cy="32308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8206B1F-6422-AEF4-E484-D44C3AD4918A}"/>
              </a:ext>
            </a:extLst>
          </p:cNvPr>
          <p:cNvCxnSpPr>
            <a:cxnSpLocks/>
          </p:cNvCxnSpPr>
          <p:nvPr/>
        </p:nvCxnSpPr>
        <p:spPr>
          <a:xfrm>
            <a:off x="2684783" y="4197096"/>
            <a:ext cx="43281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DBD20BB5-BB2C-C782-5B3F-859C142F28B9}"/>
              </a:ext>
            </a:extLst>
          </p:cNvPr>
          <p:cNvCxnSpPr>
            <a:cxnSpLocks/>
          </p:cNvCxnSpPr>
          <p:nvPr/>
        </p:nvCxnSpPr>
        <p:spPr>
          <a:xfrm>
            <a:off x="3117599" y="4187952"/>
            <a:ext cx="0" cy="8229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AF8502B7-EDF0-FC74-2312-EE075E397DC6}"/>
              </a:ext>
            </a:extLst>
          </p:cNvPr>
          <p:cNvCxnSpPr>
            <a:cxnSpLocks/>
          </p:cNvCxnSpPr>
          <p:nvPr/>
        </p:nvCxnSpPr>
        <p:spPr>
          <a:xfrm>
            <a:off x="3117599" y="4946904"/>
            <a:ext cx="72288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6A4D0FEC-5F11-58DB-C274-8F2F0E412C92}"/>
              </a:ext>
            </a:extLst>
          </p:cNvPr>
          <p:cNvCxnSpPr>
            <a:cxnSpLocks/>
          </p:cNvCxnSpPr>
          <p:nvPr/>
        </p:nvCxnSpPr>
        <p:spPr>
          <a:xfrm>
            <a:off x="3840480" y="4946904"/>
            <a:ext cx="0" cy="6126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2C2CAA73-F158-2B04-7335-1CC507CBEB76}"/>
              </a:ext>
            </a:extLst>
          </p:cNvPr>
          <p:cNvCxnSpPr>
            <a:cxnSpLocks/>
          </p:cNvCxnSpPr>
          <p:nvPr/>
        </p:nvCxnSpPr>
        <p:spPr>
          <a:xfrm>
            <a:off x="1953768" y="5010912"/>
            <a:ext cx="432816" cy="0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CBC2AC4B-A9B4-79E2-3A34-3D2FDBC89156}"/>
              </a:ext>
            </a:extLst>
          </p:cNvPr>
          <p:cNvCxnSpPr>
            <a:cxnSpLocks/>
          </p:cNvCxnSpPr>
          <p:nvPr/>
        </p:nvCxnSpPr>
        <p:spPr>
          <a:xfrm>
            <a:off x="2300735" y="5010912"/>
            <a:ext cx="0" cy="438912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0B0550DC-25B6-8C3E-81E9-4B8541117B9E}"/>
              </a:ext>
            </a:extLst>
          </p:cNvPr>
          <p:cNvCxnSpPr>
            <a:cxnSpLocks/>
          </p:cNvCxnSpPr>
          <p:nvPr/>
        </p:nvCxnSpPr>
        <p:spPr>
          <a:xfrm>
            <a:off x="2252472" y="5437632"/>
            <a:ext cx="432816" cy="0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2D7538CF-09B9-A6BC-9F3B-AFCBDF6ACC83}"/>
              </a:ext>
            </a:extLst>
          </p:cNvPr>
          <p:cNvCxnSpPr>
            <a:cxnSpLocks/>
          </p:cNvCxnSpPr>
          <p:nvPr/>
        </p:nvCxnSpPr>
        <p:spPr>
          <a:xfrm>
            <a:off x="4718304" y="5910072"/>
            <a:ext cx="1377696" cy="0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E89D5013-4D43-65A4-4D02-71FCAD81C1BC}"/>
              </a:ext>
            </a:extLst>
          </p:cNvPr>
          <p:cNvCxnSpPr>
            <a:cxnSpLocks/>
          </p:cNvCxnSpPr>
          <p:nvPr/>
        </p:nvCxnSpPr>
        <p:spPr>
          <a:xfrm>
            <a:off x="4718304" y="5455920"/>
            <a:ext cx="137769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55663F0-A60D-A7D0-A22E-A8FF323FB162}"/>
              </a:ext>
            </a:extLst>
          </p:cNvPr>
          <p:cNvSpPr txBox="1"/>
          <p:nvPr/>
        </p:nvSpPr>
        <p:spPr>
          <a:xfrm>
            <a:off x="6190488" y="527761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成功ルート</a:t>
            </a:r>
            <a:endParaRPr kumimoji="1" lang="ja-JP" altLang="en-US" sz="20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EC25A4B-155C-1F4C-9D9A-E38D1023C0DA}"/>
              </a:ext>
            </a:extLst>
          </p:cNvPr>
          <p:cNvSpPr txBox="1"/>
          <p:nvPr/>
        </p:nvSpPr>
        <p:spPr>
          <a:xfrm>
            <a:off x="6190488" y="5710017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失敗ルート</a:t>
            </a:r>
            <a:endParaRPr kumimoji="1" lang="ja-JP" altLang="en-US" sz="20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5A8D36DA-856B-A866-3ED9-6AD8954E46B4}"/>
              </a:ext>
            </a:extLst>
          </p:cNvPr>
          <p:cNvSpPr txBox="1"/>
          <p:nvPr/>
        </p:nvSpPr>
        <p:spPr>
          <a:xfrm>
            <a:off x="5276088" y="2956496"/>
            <a:ext cx="62889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u="sng" dirty="0"/>
              <a:t>成功</a:t>
            </a:r>
            <a:r>
              <a:rPr kumimoji="1" lang="ja-JP" altLang="en-US" sz="2800" u="sng" dirty="0"/>
              <a:t>ルートや</a:t>
            </a:r>
            <a:r>
              <a:rPr kumimoji="1" lang="ja-JP" altLang="en-US" sz="2800" b="1" u="sng" dirty="0"/>
              <a:t>失敗</a:t>
            </a:r>
            <a:r>
              <a:rPr kumimoji="1" lang="ja-JP" altLang="en-US" sz="2800" u="sng" dirty="0"/>
              <a:t>ルートの数</a:t>
            </a:r>
            <a:r>
              <a:rPr kumimoji="1" lang="ja-JP" altLang="en-US" sz="2800" dirty="0"/>
              <a:t>を使って</a:t>
            </a:r>
            <a:br>
              <a:rPr kumimoji="1" lang="en-US" altLang="ja-JP" sz="2800" dirty="0"/>
            </a:br>
            <a:r>
              <a:rPr kumimoji="1" lang="ja-JP" altLang="en-US" sz="2800" dirty="0"/>
              <a:t>ヒストグラムを構築し、報酬設計する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8BA5E251-F8A3-5310-B1D0-176CBFF0254A}"/>
              </a:ext>
            </a:extLst>
          </p:cNvPr>
          <p:cNvSpPr/>
          <p:nvPr/>
        </p:nvSpPr>
        <p:spPr>
          <a:xfrm>
            <a:off x="4539846" y="3667160"/>
            <a:ext cx="7552944" cy="181050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最終的な目標：</a:t>
            </a:r>
            <a:br>
              <a:rPr kumimoji="1" lang="en-US" altLang="ja-JP" sz="2800" dirty="0"/>
            </a:br>
            <a:r>
              <a:rPr kumimoji="1" lang="ja-JP" altLang="en-US" sz="2800" b="1" dirty="0"/>
              <a:t>幅広いゲームで成り立つような</a:t>
            </a:r>
            <a:r>
              <a:rPr kumimoji="1" lang="ja-JP" altLang="en-US" sz="2800" b="1" u="sng" dirty="0"/>
              <a:t>報酬設計の確立</a:t>
            </a:r>
          </a:p>
        </p:txBody>
      </p:sp>
    </p:spTree>
    <p:extLst>
      <p:ext uri="{BB962C8B-B14F-4D97-AF65-F5344CB8AC3E}">
        <p14:creationId xmlns:p14="http://schemas.microsoft.com/office/powerpoint/2010/main" val="323596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940C6-DE5B-F1C3-7B73-5540D522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733C86-5242-0636-33EC-A92889C4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先行研究の報酬設計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E99A40-CCAE-845A-7C7E-D00F881CB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46518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通行箇所が繋がってるか</a:t>
            </a: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endParaRPr lang="en-US" altLang="ja-JP" dirty="0"/>
          </a:p>
          <a:p>
            <a:r>
              <a:rPr lang="ja-JP" altLang="en-US" dirty="0"/>
              <a:t>距離の計算</a:t>
            </a:r>
            <a:endParaRPr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E6DBB51-ACB1-E0D9-326C-1EA6A17FF8A2}"/>
              </a:ext>
            </a:extLst>
          </p:cNvPr>
          <p:cNvSpPr txBox="1"/>
          <p:nvPr/>
        </p:nvSpPr>
        <p:spPr>
          <a:xfrm>
            <a:off x="1298448" y="2371721"/>
            <a:ext cx="45576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/>
              <a:t>Flood-Fill</a:t>
            </a:r>
            <a:r>
              <a:rPr kumimoji="1" lang="ja-JP" altLang="en-US" sz="3200" b="1" dirty="0"/>
              <a:t>アルゴリズム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446F16-A208-9B0C-87AC-A7037D8AF66E}"/>
              </a:ext>
            </a:extLst>
          </p:cNvPr>
          <p:cNvSpPr txBox="1"/>
          <p:nvPr/>
        </p:nvSpPr>
        <p:spPr>
          <a:xfrm>
            <a:off x="1298448" y="450661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ダイクストラ法</a:t>
            </a:r>
            <a:endParaRPr kumimoji="1" lang="ja-JP" altLang="en-US" sz="3200" b="1" dirty="0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7616C205-3843-10CC-11CB-60612CBAAB9F}"/>
              </a:ext>
            </a:extLst>
          </p:cNvPr>
          <p:cNvSpPr/>
          <p:nvPr/>
        </p:nvSpPr>
        <p:spPr>
          <a:xfrm>
            <a:off x="5494355" y="2733836"/>
            <a:ext cx="1903141" cy="1645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E69F721-486C-9701-B93B-BDD8F6333AD0}"/>
              </a:ext>
            </a:extLst>
          </p:cNvPr>
          <p:cNvSpPr txBox="1"/>
          <p:nvPr/>
        </p:nvSpPr>
        <p:spPr>
          <a:xfrm>
            <a:off x="7858998" y="2864298"/>
            <a:ext cx="305724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 dirty="0"/>
              <a:t>どちらも</a:t>
            </a:r>
            <a:br>
              <a:rPr kumimoji="1" lang="en-US" altLang="ja-JP" sz="2800" dirty="0"/>
            </a:br>
            <a:r>
              <a:rPr kumimoji="1" lang="ja-JP" altLang="en-US" sz="2800" b="1" u="sng" dirty="0"/>
              <a:t>幅優先探索</a:t>
            </a:r>
            <a:r>
              <a:rPr kumimoji="1" lang="ja-JP" altLang="en-US" sz="2800" u="sng" dirty="0"/>
              <a:t>に近い</a:t>
            </a:r>
            <a:br>
              <a:rPr kumimoji="1" lang="en-US" altLang="ja-JP" sz="2800" dirty="0"/>
            </a:br>
            <a:r>
              <a:rPr kumimoji="1" lang="ja-JP" altLang="en-US" sz="2800" dirty="0"/>
              <a:t>アルゴリズム</a:t>
            </a:r>
          </a:p>
        </p:txBody>
      </p:sp>
    </p:spTree>
    <p:extLst>
      <p:ext uri="{BB962C8B-B14F-4D97-AF65-F5344CB8AC3E}">
        <p14:creationId xmlns:p14="http://schemas.microsoft.com/office/powerpoint/2010/main" val="4272775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ECF9E-BDCA-CF75-A403-10D8FDDB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88B4F9-B4AA-46BC-BF59-89DA8BE32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新しい報酬設計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26941E-EA72-D6EE-05A5-2E7D0DA04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61743"/>
          </a:xfrm>
        </p:spPr>
        <p:txBody>
          <a:bodyPr>
            <a:normAutofit/>
          </a:bodyPr>
          <a:lstStyle/>
          <a:p>
            <a:r>
              <a:rPr lang="ja-JP" altLang="en-US" dirty="0"/>
              <a:t>ゲームの成功・失敗をヒストグラムへ</a:t>
            </a:r>
            <a:endParaRPr lang="en-US" altLang="ja-JP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BD17A771-E972-E56D-AC7F-CF5F05784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80" y="2956496"/>
            <a:ext cx="2308498" cy="2261743"/>
          </a:xfrm>
          <a:prstGeom prst="rect">
            <a:avLst/>
          </a:prstGeom>
        </p:spPr>
      </p:pic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2" name="グラフ 31">
                <a:extLst>
                  <a:ext uri="{FF2B5EF4-FFF2-40B4-BE49-F238E27FC236}">
                    <a16:creationId xmlns:a16="http://schemas.microsoft.com/office/drawing/2014/main" id="{5D616FDD-22EB-3FE3-8384-2291014855D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09366712"/>
                  </p:ext>
                </p:extLst>
              </p:nvPr>
            </p:nvGraphicFramePr>
            <p:xfrm>
              <a:off x="4313936" y="2454826"/>
              <a:ext cx="3113024" cy="196477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2" name="グラフ 31">
                <a:extLst>
                  <a:ext uri="{FF2B5EF4-FFF2-40B4-BE49-F238E27FC236}">
                    <a16:creationId xmlns:a16="http://schemas.microsoft.com/office/drawing/2014/main" id="{5D616FDD-22EB-3FE3-8384-2291014855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13936" y="2454826"/>
                <a:ext cx="3113024" cy="1964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5" name="グラフ 34">
                <a:extLst>
                  <a:ext uri="{FF2B5EF4-FFF2-40B4-BE49-F238E27FC236}">
                    <a16:creationId xmlns:a16="http://schemas.microsoft.com/office/drawing/2014/main" id="{CD948D45-1A10-557E-AF78-335C0E52932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171605599"/>
                  </p:ext>
                </p:extLst>
              </p:nvPr>
            </p:nvGraphicFramePr>
            <p:xfrm>
              <a:off x="4313936" y="4622081"/>
              <a:ext cx="3113024" cy="196477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35" name="グラフ 34">
                <a:extLst>
                  <a:ext uri="{FF2B5EF4-FFF2-40B4-BE49-F238E27FC236}">
                    <a16:creationId xmlns:a16="http://schemas.microsoft.com/office/drawing/2014/main" id="{CD948D45-1A10-557E-AF78-335C0E5293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13936" y="4622081"/>
                <a:ext cx="3113024" cy="1964774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矢印: 右 36">
            <a:extLst>
              <a:ext uri="{FF2B5EF4-FFF2-40B4-BE49-F238E27FC236}">
                <a16:creationId xmlns:a16="http://schemas.microsoft.com/office/drawing/2014/main" id="{8C6018E7-4AA8-E990-393B-B1B255D71925}"/>
              </a:ext>
            </a:extLst>
          </p:cNvPr>
          <p:cNvSpPr/>
          <p:nvPr/>
        </p:nvSpPr>
        <p:spPr>
          <a:xfrm>
            <a:off x="3119120" y="3647440"/>
            <a:ext cx="1194816" cy="1066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62EB4583-7870-36F4-7C98-8DC76C17B108}"/>
              </a:ext>
            </a:extLst>
          </p:cNvPr>
          <p:cNvSpPr/>
          <p:nvPr/>
        </p:nvSpPr>
        <p:spPr>
          <a:xfrm>
            <a:off x="7632880" y="3688905"/>
            <a:ext cx="1194816" cy="1066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CA185DB-55F3-76CD-EEC8-4CA25DE8040C}"/>
              </a:ext>
            </a:extLst>
          </p:cNvPr>
          <p:cNvSpPr txBox="1"/>
          <p:nvPr/>
        </p:nvSpPr>
        <p:spPr>
          <a:xfrm>
            <a:off x="9117658" y="3801598"/>
            <a:ext cx="23391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 dirty="0"/>
              <a:t>平均・分散を</a:t>
            </a:r>
            <a:br>
              <a:rPr kumimoji="1" lang="en-US" altLang="ja-JP" sz="2800" dirty="0"/>
            </a:br>
            <a:r>
              <a:rPr kumimoji="1" lang="ja-JP" altLang="en-US" sz="2800" dirty="0"/>
              <a:t>元に報酬計算</a:t>
            </a:r>
          </a:p>
        </p:txBody>
      </p:sp>
    </p:spTree>
    <p:extLst>
      <p:ext uri="{BB962C8B-B14F-4D97-AF65-F5344CB8AC3E}">
        <p14:creationId xmlns:p14="http://schemas.microsoft.com/office/powerpoint/2010/main" val="180882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FAAEE-5162-DA50-057F-BC53A6CBE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FECB50-8711-FE62-E223-AD273A79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今後の方針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1B467A-F5AE-B848-E20C-7449FB745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61743"/>
          </a:xfrm>
        </p:spPr>
        <p:txBody>
          <a:bodyPr>
            <a:normAutofit/>
          </a:bodyPr>
          <a:lstStyle/>
          <a:p>
            <a:r>
              <a:rPr lang="ja-JP" altLang="en-US" dirty="0"/>
              <a:t>先行研究のソースコードを元にプログラムの実装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81116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5320</TotalTime>
  <Words>225</Words>
  <Application>Microsoft Office PowerPoint</Application>
  <PresentationFormat>ワイド画面</PresentationFormat>
  <Paragraphs>29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BIZ UDPゴシック</vt:lpstr>
      <vt:lpstr>游ゴシック</vt:lpstr>
      <vt:lpstr>游ゴシック Light</vt:lpstr>
      <vt:lpstr>Arial</vt:lpstr>
      <vt:lpstr>Office テーマ</vt:lpstr>
      <vt:lpstr>進捗報告4</vt:lpstr>
      <vt:lpstr>研究内容</vt:lpstr>
      <vt:lpstr>新しい報酬設計案（前回までの内容）</vt:lpstr>
      <vt:lpstr>新しい報酬設計案（前回までの内容）</vt:lpstr>
      <vt:lpstr>先行研究の報酬設計</vt:lpstr>
      <vt:lpstr>新しい報酬設計</vt:lpstr>
      <vt:lpstr>今後の方針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髙橋　亨輔</dc:creator>
  <cp:lastModifiedBy>髙橋　亨輔</cp:lastModifiedBy>
  <cp:revision>53</cp:revision>
  <dcterms:created xsi:type="dcterms:W3CDTF">2026-02-19T17:03:19Z</dcterms:created>
  <dcterms:modified xsi:type="dcterms:W3CDTF">2026-06-18T06:05:41Z</dcterms:modified>
</cp:coreProperties>
</file>