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5"/>
  </p:normalViewPr>
  <p:slideViewPr>
    <p:cSldViewPr snapToGrid="0">
      <p:cViewPr varScale="1">
        <p:scale>
          <a:sx n="88" d="100"/>
          <a:sy n="88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gradFill>
          <a:gsLst>
            <a:gs pos="0">
              <a:schemeClr val="accent2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827AD-7469-5BB7-5B71-1F675AC16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0DC98DA-BFFA-C077-84BD-5F53F182C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F360E-B539-5BD5-4795-E8770BE6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FF9152-5DCB-A9F2-F309-33BEE049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5BF3A8-5AE4-2EEF-353C-F2F16BFD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フリーフォーム 12">
            <a:extLst>
              <a:ext uri="{FF2B5EF4-FFF2-40B4-BE49-F238E27FC236}">
                <a16:creationId xmlns:a16="http://schemas.microsoft.com/office/drawing/2014/main" id="{5A500706-2581-1AC7-3892-7B7729BDA8B1}"/>
              </a:ext>
            </a:extLst>
          </p:cNvPr>
          <p:cNvSpPr/>
          <p:nvPr/>
        </p:nvSpPr>
        <p:spPr>
          <a:xfrm>
            <a:off x="606000" y="500063"/>
            <a:ext cx="10980000" cy="5857875"/>
          </a:xfrm>
          <a:custGeom>
            <a:avLst/>
            <a:gdLst>
              <a:gd name="connsiteX0" fmla="*/ 1081013 w 11845636"/>
              <a:gd name="connsiteY0" fmla="*/ 0 h 6485948"/>
              <a:gd name="connsiteX1" fmla="*/ 10764623 w 11845636"/>
              <a:gd name="connsiteY1" fmla="*/ 0 h 6485948"/>
              <a:gd name="connsiteX2" fmla="*/ 11845636 w 11845636"/>
              <a:gd name="connsiteY2" fmla="*/ 1081013 h 6485948"/>
              <a:gd name="connsiteX3" fmla="*/ 11845636 w 11845636"/>
              <a:gd name="connsiteY3" fmla="*/ 5404935 h 6485948"/>
              <a:gd name="connsiteX4" fmla="*/ 11823674 w 11845636"/>
              <a:gd name="connsiteY4" fmla="*/ 5622797 h 6485948"/>
              <a:gd name="connsiteX5" fmla="*/ 11821982 w 11845636"/>
              <a:gd name="connsiteY5" fmla="*/ 5628246 h 6485948"/>
              <a:gd name="connsiteX6" fmla="*/ 11732430 w 11845636"/>
              <a:gd name="connsiteY6" fmla="*/ 5640163 h 6485948"/>
              <a:gd name="connsiteX7" fmla="*/ 10939428 w 11845636"/>
              <a:gd name="connsiteY7" fmla="*/ 6331618 h 6485948"/>
              <a:gd name="connsiteX8" fmla="*/ 10923076 w 11845636"/>
              <a:gd name="connsiteY8" fmla="*/ 6473053 h 6485948"/>
              <a:gd name="connsiteX9" fmla="*/ 10875150 w 11845636"/>
              <a:gd name="connsiteY9" fmla="*/ 6480367 h 6485948"/>
              <a:gd name="connsiteX10" fmla="*/ 10764623 w 11845636"/>
              <a:gd name="connsiteY10" fmla="*/ 6485948 h 6485948"/>
              <a:gd name="connsiteX11" fmla="*/ 1081013 w 11845636"/>
              <a:gd name="connsiteY11" fmla="*/ 6485948 h 6485948"/>
              <a:gd name="connsiteX12" fmla="*/ 0 w 11845636"/>
              <a:gd name="connsiteY12" fmla="*/ 5404935 h 6485948"/>
              <a:gd name="connsiteX13" fmla="*/ 0 w 11845636"/>
              <a:gd name="connsiteY13" fmla="*/ 1081013 h 6485948"/>
              <a:gd name="connsiteX14" fmla="*/ 1081013 w 11845636"/>
              <a:gd name="connsiteY14" fmla="*/ 0 h 648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845636" h="6485948">
                <a:moveTo>
                  <a:pt x="1081013" y="0"/>
                </a:moveTo>
                <a:lnTo>
                  <a:pt x="10764623" y="0"/>
                </a:lnTo>
                <a:cubicBezTo>
                  <a:pt x="11361650" y="0"/>
                  <a:pt x="11845636" y="483986"/>
                  <a:pt x="11845636" y="1081013"/>
                </a:cubicBezTo>
                <a:lnTo>
                  <a:pt x="11845636" y="5404935"/>
                </a:lnTo>
                <a:cubicBezTo>
                  <a:pt x="11845636" y="5479564"/>
                  <a:pt x="11838074" y="5552426"/>
                  <a:pt x="11823674" y="5622797"/>
                </a:cubicBezTo>
                <a:lnTo>
                  <a:pt x="11821982" y="5628246"/>
                </a:lnTo>
                <a:lnTo>
                  <a:pt x="11732430" y="5640163"/>
                </a:lnTo>
                <a:cubicBezTo>
                  <a:pt x="11334389" y="5711184"/>
                  <a:pt x="11020879" y="5984548"/>
                  <a:pt x="10939428" y="6331618"/>
                </a:cubicBezTo>
                <a:lnTo>
                  <a:pt x="10923076" y="6473053"/>
                </a:lnTo>
                <a:lnTo>
                  <a:pt x="10875150" y="6480367"/>
                </a:lnTo>
                <a:cubicBezTo>
                  <a:pt x="10838810" y="6484058"/>
                  <a:pt x="10801937" y="6485948"/>
                  <a:pt x="10764623" y="6485948"/>
                </a:cubicBezTo>
                <a:lnTo>
                  <a:pt x="1081013" y="6485948"/>
                </a:lnTo>
                <a:cubicBezTo>
                  <a:pt x="483986" y="6485948"/>
                  <a:pt x="0" y="6001962"/>
                  <a:pt x="0" y="5404935"/>
                </a:cubicBezTo>
                <a:lnTo>
                  <a:pt x="0" y="1081013"/>
                </a:lnTo>
                <a:cubicBezTo>
                  <a:pt x="0" y="483986"/>
                  <a:pt x="483986" y="0"/>
                  <a:pt x="108101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00" cap="rnd">
            <a:solidFill>
              <a:schemeClr val="accent3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7B757E09-DBEF-D36E-BDA5-E533354E173D}"/>
              </a:ext>
            </a:extLst>
          </p:cNvPr>
          <p:cNvSpPr/>
          <p:nvPr/>
        </p:nvSpPr>
        <p:spPr>
          <a:xfrm rot="10800000">
            <a:off x="606000" y="500062"/>
            <a:ext cx="10980000" cy="5857875"/>
          </a:xfrm>
          <a:custGeom>
            <a:avLst/>
            <a:gdLst>
              <a:gd name="connsiteX0" fmla="*/ 1081013 w 11845636"/>
              <a:gd name="connsiteY0" fmla="*/ 0 h 6485948"/>
              <a:gd name="connsiteX1" fmla="*/ 10764623 w 11845636"/>
              <a:gd name="connsiteY1" fmla="*/ 0 h 6485948"/>
              <a:gd name="connsiteX2" fmla="*/ 11845636 w 11845636"/>
              <a:gd name="connsiteY2" fmla="*/ 1081013 h 6485948"/>
              <a:gd name="connsiteX3" fmla="*/ 11845636 w 11845636"/>
              <a:gd name="connsiteY3" fmla="*/ 5404935 h 6485948"/>
              <a:gd name="connsiteX4" fmla="*/ 11823674 w 11845636"/>
              <a:gd name="connsiteY4" fmla="*/ 5622797 h 6485948"/>
              <a:gd name="connsiteX5" fmla="*/ 11821982 w 11845636"/>
              <a:gd name="connsiteY5" fmla="*/ 5628246 h 6485948"/>
              <a:gd name="connsiteX6" fmla="*/ 11732430 w 11845636"/>
              <a:gd name="connsiteY6" fmla="*/ 5640163 h 6485948"/>
              <a:gd name="connsiteX7" fmla="*/ 10939428 w 11845636"/>
              <a:gd name="connsiteY7" fmla="*/ 6331618 h 6485948"/>
              <a:gd name="connsiteX8" fmla="*/ 10923076 w 11845636"/>
              <a:gd name="connsiteY8" fmla="*/ 6473053 h 6485948"/>
              <a:gd name="connsiteX9" fmla="*/ 10875150 w 11845636"/>
              <a:gd name="connsiteY9" fmla="*/ 6480367 h 6485948"/>
              <a:gd name="connsiteX10" fmla="*/ 10764623 w 11845636"/>
              <a:gd name="connsiteY10" fmla="*/ 6485948 h 6485948"/>
              <a:gd name="connsiteX11" fmla="*/ 1081013 w 11845636"/>
              <a:gd name="connsiteY11" fmla="*/ 6485948 h 6485948"/>
              <a:gd name="connsiteX12" fmla="*/ 0 w 11845636"/>
              <a:gd name="connsiteY12" fmla="*/ 5404935 h 6485948"/>
              <a:gd name="connsiteX13" fmla="*/ 0 w 11845636"/>
              <a:gd name="connsiteY13" fmla="*/ 1081013 h 6485948"/>
              <a:gd name="connsiteX14" fmla="*/ 1081013 w 11845636"/>
              <a:gd name="connsiteY14" fmla="*/ 0 h 648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845636" h="6485948">
                <a:moveTo>
                  <a:pt x="1081013" y="0"/>
                </a:moveTo>
                <a:lnTo>
                  <a:pt x="10764623" y="0"/>
                </a:lnTo>
                <a:cubicBezTo>
                  <a:pt x="11361650" y="0"/>
                  <a:pt x="11845636" y="483986"/>
                  <a:pt x="11845636" y="1081013"/>
                </a:cubicBezTo>
                <a:lnTo>
                  <a:pt x="11845636" y="5404935"/>
                </a:lnTo>
                <a:cubicBezTo>
                  <a:pt x="11845636" y="5479564"/>
                  <a:pt x="11838074" y="5552426"/>
                  <a:pt x="11823674" y="5622797"/>
                </a:cubicBezTo>
                <a:lnTo>
                  <a:pt x="11821982" y="5628246"/>
                </a:lnTo>
                <a:lnTo>
                  <a:pt x="11732430" y="5640163"/>
                </a:lnTo>
                <a:cubicBezTo>
                  <a:pt x="11334389" y="5711184"/>
                  <a:pt x="11020879" y="5984548"/>
                  <a:pt x="10939428" y="6331618"/>
                </a:cubicBezTo>
                <a:lnTo>
                  <a:pt x="10923076" y="6473053"/>
                </a:lnTo>
                <a:lnTo>
                  <a:pt x="10875150" y="6480367"/>
                </a:lnTo>
                <a:cubicBezTo>
                  <a:pt x="10838810" y="6484058"/>
                  <a:pt x="10801937" y="6485948"/>
                  <a:pt x="10764623" y="6485948"/>
                </a:cubicBezTo>
                <a:lnTo>
                  <a:pt x="1081013" y="6485948"/>
                </a:lnTo>
                <a:cubicBezTo>
                  <a:pt x="483986" y="6485948"/>
                  <a:pt x="0" y="6001962"/>
                  <a:pt x="0" y="5404935"/>
                </a:cubicBezTo>
                <a:lnTo>
                  <a:pt x="0" y="1081013"/>
                </a:lnTo>
                <a:cubicBezTo>
                  <a:pt x="0" y="483986"/>
                  <a:pt x="483986" y="0"/>
                  <a:pt x="108101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00" cap="rnd">
            <a:solidFill>
              <a:schemeClr val="accent3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86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bg>
      <p:bgPr>
        <a:gradFill>
          <a:gsLst>
            <a:gs pos="0">
              <a:schemeClr val="accent2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フリーフォーム 27">
            <a:extLst>
              <a:ext uri="{FF2B5EF4-FFF2-40B4-BE49-F238E27FC236}">
                <a16:creationId xmlns:a16="http://schemas.microsoft.com/office/drawing/2014/main" id="{0AB19CB6-A930-720C-2622-FB040C99BDBE}"/>
              </a:ext>
            </a:extLst>
          </p:cNvPr>
          <p:cNvSpPr/>
          <p:nvPr/>
        </p:nvSpPr>
        <p:spPr>
          <a:xfrm>
            <a:off x="606000" y="500063"/>
            <a:ext cx="10980000" cy="5857875"/>
          </a:xfrm>
          <a:custGeom>
            <a:avLst/>
            <a:gdLst>
              <a:gd name="connsiteX0" fmla="*/ 1081013 w 11845636"/>
              <a:gd name="connsiteY0" fmla="*/ 0 h 6485948"/>
              <a:gd name="connsiteX1" fmla="*/ 10764623 w 11845636"/>
              <a:gd name="connsiteY1" fmla="*/ 0 h 6485948"/>
              <a:gd name="connsiteX2" fmla="*/ 11845636 w 11845636"/>
              <a:gd name="connsiteY2" fmla="*/ 1081013 h 6485948"/>
              <a:gd name="connsiteX3" fmla="*/ 11845636 w 11845636"/>
              <a:gd name="connsiteY3" fmla="*/ 5404935 h 6485948"/>
              <a:gd name="connsiteX4" fmla="*/ 11823674 w 11845636"/>
              <a:gd name="connsiteY4" fmla="*/ 5622797 h 6485948"/>
              <a:gd name="connsiteX5" fmla="*/ 11821982 w 11845636"/>
              <a:gd name="connsiteY5" fmla="*/ 5628246 h 6485948"/>
              <a:gd name="connsiteX6" fmla="*/ 11732430 w 11845636"/>
              <a:gd name="connsiteY6" fmla="*/ 5640163 h 6485948"/>
              <a:gd name="connsiteX7" fmla="*/ 10939428 w 11845636"/>
              <a:gd name="connsiteY7" fmla="*/ 6331618 h 6485948"/>
              <a:gd name="connsiteX8" fmla="*/ 10923076 w 11845636"/>
              <a:gd name="connsiteY8" fmla="*/ 6473053 h 6485948"/>
              <a:gd name="connsiteX9" fmla="*/ 10875150 w 11845636"/>
              <a:gd name="connsiteY9" fmla="*/ 6480367 h 6485948"/>
              <a:gd name="connsiteX10" fmla="*/ 10764623 w 11845636"/>
              <a:gd name="connsiteY10" fmla="*/ 6485948 h 6485948"/>
              <a:gd name="connsiteX11" fmla="*/ 1081013 w 11845636"/>
              <a:gd name="connsiteY11" fmla="*/ 6485948 h 6485948"/>
              <a:gd name="connsiteX12" fmla="*/ 0 w 11845636"/>
              <a:gd name="connsiteY12" fmla="*/ 5404935 h 6485948"/>
              <a:gd name="connsiteX13" fmla="*/ 0 w 11845636"/>
              <a:gd name="connsiteY13" fmla="*/ 1081013 h 6485948"/>
              <a:gd name="connsiteX14" fmla="*/ 1081013 w 11845636"/>
              <a:gd name="connsiteY14" fmla="*/ 0 h 6485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845636" h="6485948">
                <a:moveTo>
                  <a:pt x="1081013" y="0"/>
                </a:moveTo>
                <a:lnTo>
                  <a:pt x="10764623" y="0"/>
                </a:lnTo>
                <a:cubicBezTo>
                  <a:pt x="11361650" y="0"/>
                  <a:pt x="11845636" y="483986"/>
                  <a:pt x="11845636" y="1081013"/>
                </a:cubicBezTo>
                <a:lnTo>
                  <a:pt x="11845636" y="5404935"/>
                </a:lnTo>
                <a:cubicBezTo>
                  <a:pt x="11845636" y="5479564"/>
                  <a:pt x="11838074" y="5552426"/>
                  <a:pt x="11823674" y="5622797"/>
                </a:cubicBezTo>
                <a:lnTo>
                  <a:pt x="11821982" y="5628246"/>
                </a:lnTo>
                <a:lnTo>
                  <a:pt x="11732430" y="5640163"/>
                </a:lnTo>
                <a:cubicBezTo>
                  <a:pt x="11334389" y="5711184"/>
                  <a:pt x="11020879" y="5984548"/>
                  <a:pt x="10939428" y="6331618"/>
                </a:cubicBezTo>
                <a:lnTo>
                  <a:pt x="10923076" y="6473053"/>
                </a:lnTo>
                <a:lnTo>
                  <a:pt x="10875150" y="6480367"/>
                </a:lnTo>
                <a:cubicBezTo>
                  <a:pt x="10838810" y="6484058"/>
                  <a:pt x="10801937" y="6485948"/>
                  <a:pt x="10764623" y="6485948"/>
                </a:cubicBezTo>
                <a:lnTo>
                  <a:pt x="1081013" y="6485948"/>
                </a:lnTo>
                <a:cubicBezTo>
                  <a:pt x="483986" y="6485948"/>
                  <a:pt x="0" y="6001962"/>
                  <a:pt x="0" y="5404935"/>
                </a:cubicBezTo>
                <a:lnTo>
                  <a:pt x="0" y="1081013"/>
                </a:lnTo>
                <a:cubicBezTo>
                  <a:pt x="0" y="483986"/>
                  <a:pt x="483986" y="0"/>
                  <a:pt x="108101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00" cap="rnd">
            <a:solidFill>
              <a:schemeClr val="accent3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85B2970-E7F9-1169-9B30-5C5C231D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663"/>
            <a:ext cx="10515600" cy="1029689"/>
          </a:xfrm>
        </p:spPr>
        <p:txBody>
          <a:bodyPr/>
          <a:lstStyle>
            <a:lvl1pPr>
              <a:defRPr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C7E51C-5FA8-FB40-52D8-08486750C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752"/>
            <a:ext cx="10515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CF3F6-3D9D-DAA6-07E7-60C348125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0B4908-F159-6D50-8992-D431EF5D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2CD737-02C4-5891-69FB-8FDEAC0D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9474" y="5923950"/>
            <a:ext cx="2855217" cy="86479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</a:lstStyle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455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11DAA8-B2E3-A665-C5CF-AEDAA5B7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2903BB-F190-087F-9723-BE92470A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60A5BF-7CCF-CF5F-493C-9CF37FBE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4E1304-9974-DAE9-73F4-D843F59F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F335A-965C-60F9-1841-264D3AC7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64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5D536B-1829-14A3-3357-51398886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8519B6-AD8F-728C-0489-893CAE569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C5853F-0E87-01BA-8392-050778775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54D538-D685-30A1-F536-2AD01710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F08EAE-FCFF-A7FE-3638-65753286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07EA7B-BBD5-8327-852B-216A521A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43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A8CBF-C4B9-31CE-7776-0951EF3AE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FF66BF-BED8-3D48-D3F8-122904E63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1DB14D-74BC-5A43-3A86-D2FE0E2D1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827932-FB36-8ABD-767C-570168A02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6406F8-5EF5-884E-07B5-2ACBB2C16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958D74-0060-BF9F-6CB0-604A0865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CC084F-4D2C-DF4B-B022-0EE536DA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55F2E6-35A3-9761-44CC-2066ACBF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77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B122F4-5966-62D2-B7CA-232F5EC7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A563C4-9DB2-BD50-9250-AC197AAB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A11165-31B5-F3BC-21E2-2E99B1A1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BB8802-079A-72E0-5DC2-630AECAB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71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3FC9A9-0807-BBDD-CA51-A6E20CA7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330E1EE-322A-95B4-6F5D-CD9672B9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2B49A8-A772-61D8-165F-65F2EE0C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49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B1601-EDB3-A772-4F1D-A3BC1D2A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37F9F-9BA9-4AF2-85A4-662645750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A054D2-6D11-6846-74F5-B74E00D17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6AF977-33BA-DB6C-E3D6-53C45DCB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AE5C3D-8F96-B3E5-380F-4A330E8D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8E61AA-740C-1132-6721-9164607A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11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145AF-272B-281A-68E4-76A6C1D30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CB9F3F-7EE8-A6C7-91EF-E30E4B0B9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520D50-3480-6BA1-AD9C-D2E9A6A49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61201A-654A-9A10-389E-47716D07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944FE6-46B9-7DD2-CC2F-BE494EAF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B55349-4B07-CD5B-A0A0-36C768FB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5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FFF1C8-CE11-36E5-E82E-75A6E85B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7F999-8297-DC35-D42A-7A46EB84A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5A2447-EE0B-33FE-C5F2-A8626B86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3910B0-51A1-E0FD-0F02-754207E2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DC7B6A-1488-1ED8-3C10-962F2123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79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644587-E793-17B6-7280-3F957A31D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B96ED6-3D80-4A6D-C9B7-E1C6E4A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5ECA0F-5906-C652-938F-257C4D93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BCE01-33B4-7390-5920-828A362B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3BE552-2200-8BE4-6B88-48ABBC37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73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E8FC41-9E39-FE72-D6DE-10A9D7ED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EF5BF1-FC23-7D22-803A-9E29DC38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6E55E1-FBA0-5EA2-D546-1533305F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83AE8-ECE9-9147-B205-D3D5A3C1E88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C39BD2-FE2C-1D1A-F5BB-3D65FBA0F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F727B5-DD5A-A7A8-2AF4-EF640FFB9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600" y="6303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9C476-A4CC-A842-A483-C2956A5B52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94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DC51C-CD40-7BF4-9D94-AE605C0533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 dirty="0"/>
              <a:t>14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FC6F08-FFD4-02AB-D6FD-DB715ABC9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2026/05/28</a:t>
            </a:r>
          </a:p>
          <a:p>
            <a:r>
              <a:rPr lang="en-US" altLang="ja-JP" dirty="0"/>
              <a:t>M2 6325533 </a:t>
            </a:r>
            <a:r>
              <a:rPr lang="ja-JP" altLang="en-US"/>
              <a:t>中本華琳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90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34CD37-99A8-47F9-3BA6-43B385A53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近況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37D282-02BE-6E3C-F1CB-D8637BA59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就活</a:t>
            </a:r>
            <a:endParaRPr kumimoji="1" lang="en-US" altLang="ja-JP" dirty="0"/>
          </a:p>
          <a:p>
            <a:r>
              <a:rPr lang="ja-JP" altLang="en-US"/>
              <a:t>論文</a:t>
            </a:r>
            <a:r>
              <a:rPr lang="en-US" altLang="ja-JP" dirty="0"/>
              <a:t>(</a:t>
            </a:r>
            <a:r>
              <a:rPr lang="ja-JP" altLang="en-US"/>
              <a:t>先行研究</a:t>
            </a:r>
            <a:r>
              <a:rPr lang="en-US" altLang="ja-JP" dirty="0"/>
              <a:t>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25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021D19-E030-6A56-69FC-E00D23CA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ja-JP" dirty="0" err="1"/>
              <a:t>TextileNet</a:t>
            </a:r>
            <a:r>
              <a:rPr kumimoji="1" lang="en" altLang="ja-JP" dirty="0"/>
              <a:t>: A Material Taxonomy-based Fashion Textile Dataset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2403CF-8C78-7E39-9CC4-AC979520C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服画像から布素材を認識するための大規模データセット</a:t>
            </a:r>
            <a:endParaRPr lang="en-US" altLang="ja-JP" dirty="0"/>
          </a:p>
          <a:p>
            <a:r>
              <a:rPr lang="ja-JP" altLang="ja-JP"/>
              <a:t>33 個の繊維ラベルと 27 個の布ラベルが含まれており、合計で 760,949 枚の画像が</a:t>
            </a:r>
            <a:r>
              <a:rPr lang="ja-JP" altLang="en-US"/>
              <a:t>存在</a:t>
            </a:r>
            <a:endParaRPr lang="en-US" altLang="ja-JP" dirty="0"/>
          </a:p>
          <a:p>
            <a:r>
              <a:rPr lang="ja-JP" altLang="en-US"/>
              <a:t>繊維ラベル</a:t>
            </a:r>
            <a:endParaRPr lang="en-US" altLang="ja-JP" dirty="0"/>
          </a:p>
          <a:p>
            <a:pPr lvl="1"/>
            <a:r>
              <a:rPr lang="ja-JP" altLang="en-US"/>
              <a:t>アクリル、革、毛皮、ナイロン、ポリエステル、ウール等</a:t>
            </a:r>
            <a:endParaRPr lang="en-US" altLang="ja-JP" dirty="0"/>
          </a:p>
          <a:p>
            <a:r>
              <a:rPr lang="ja-JP" altLang="en-US"/>
              <a:t>布ラベル</a:t>
            </a:r>
            <a:endParaRPr lang="en-US" altLang="ja-JP" dirty="0"/>
          </a:p>
          <a:p>
            <a:pPr lvl="1"/>
            <a:r>
              <a:rPr lang="ja-JP" altLang="en-US"/>
              <a:t>デニム、クレープ生地、フェイクファー、合皮、レース等</a:t>
            </a:r>
            <a:endParaRPr lang="en-US" altLang="ja-JP" dirty="0"/>
          </a:p>
          <a:p>
            <a:r>
              <a:rPr lang="ja-JP" altLang="en-US"/>
              <a:t>論文では</a:t>
            </a:r>
            <a:r>
              <a:rPr lang="en-US" altLang="ja-JP" dirty="0"/>
              <a:t>ResNet50</a:t>
            </a:r>
            <a:r>
              <a:rPr lang="ja-JP" altLang="en-US"/>
              <a:t>、</a:t>
            </a:r>
            <a:r>
              <a:rPr lang="en-US" altLang="ja-JP" dirty="0"/>
              <a:t>Vision Transformer</a:t>
            </a:r>
            <a:r>
              <a:rPr lang="ja-JP" altLang="en-US"/>
              <a:t>（</a:t>
            </a:r>
            <a:r>
              <a:rPr lang="en-US" altLang="ja-JP" dirty="0" err="1"/>
              <a:t>ViT</a:t>
            </a:r>
            <a:r>
              <a:rPr lang="ja-JP" altLang="en-US"/>
              <a:t>）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9432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0A5B9-D0C2-F5D4-820B-09192DCE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精度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4FD5F7-6FC4-9643-755E-065A775F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/>
              <a:t>番目の予測の正解率が低い</a:t>
            </a:r>
            <a:endParaRPr kumimoji="1" lang="en-US" altLang="ja-JP" dirty="0"/>
          </a:p>
          <a:p>
            <a:r>
              <a:rPr kumimoji="1" lang="ja-JP" altLang="en-US"/>
              <a:t>予測</a:t>
            </a:r>
            <a:r>
              <a:rPr kumimoji="1" lang="en-US" altLang="ja-JP" dirty="0"/>
              <a:t>5</a:t>
            </a:r>
            <a:r>
              <a:rPr kumimoji="1" lang="ja-JP" altLang="en-US"/>
              <a:t>位以内の正解率は</a:t>
            </a:r>
            <a:r>
              <a:rPr kumimoji="1" lang="en-US" altLang="ja-JP" dirty="0"/>
              <a:t>90%</a:t>
            </a:r>
            <a:r>
              <a:rPr kumimoji="1" lang="ja-JP" altLang="en-US"/>
              <a:t>に近くなる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5A1C59A-1FDF-F57F-FB59-909C0C823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39" y="1529752"/>
            <a:ext cx="10059922" cy="205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8A35B0-49A1-E5CC-19DA-DB331B02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A327FD-992A-B4B8-D239-5BAD33FA7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Textile</a:t>
            </a:r>
            <a:r>
              <a:rPr kumimoji="1" lang="ja-JP" altLang="en-US"/>
              <a:t>を試してみる</a:t>
            </a:r>
          </a:p>
        </p:txBody>
      </p:sp>
    </p:spTree>
    <p:extLst>
      <p:ext uri="{BB962C8B-B14F-4D97-AF65-F5344CB8AC3E}">
        <p14:creationId xmlns:p14="http://schemas.microsoft.com/office/powerpoint/2010/main" val="31789731"/>
      </p:ext>
    </p:extLst>
  </p:cSld>
  <p:clrMapOvr>
    <a:masterClrMapping/>
  </p:clrMapOvr>
</p:sld>
</file>

<file path=ppt/theme/theme1.xml><?xml version="1.0" encoding="utf-8"?>
<a:theme xmlns:a="http://schemas.openxmlformats.org/drawingml/2006/main" name="進捗報告1">
  <a:themeElements>
    <a:clrScheme name="ユーザー定義 3">
      <a:dk1>
        <a:srgbClr val="4D555A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進捗報告４</Template>
  <TotalTime>58</TotalTime>
  <Words>121</Words>
  <Application>Microsoft Macintosh PowerPoint</Application>
  <PresentationFormat>ワイド画面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Arial</vt:lpstr>
      <vt:lpstr>Calibri</vt:lpstr>
      <vt:lpstr>進捗報告1</vt:lpstr>
      <vt:lpstr>進捗報告14</vt:lpstr>
      <vt:lpstr>近況</vt:lpstr>
      <vt:lpstr>TextileNet: A Material Taxonomy-based Fashion Textile Dataset</vt:lpstr>
      <vt:lpstr>精度</vt:lpstr>
      <vt:lpstr>今後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中本　華琳</dc:creator>
  <cp:lastModifiedBy>中本　華琳</cp:lastModifiedBy>
  <cp:revision>3</cp:revision>
  <dcterms:created xsi:type="dcterms:W3CDTF">2026-05-27T16:28:30Z</dcterms:created>
  <dcterms:modified xsi:type="dcterms:W3CDTF">2026-05-27T17:27:12Z</dcterms:modified>
</cp:coreProperties>
</file>